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1234440"/>
            <a:ext cx="758952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FARM PRODUCTION
&amp; PROFITABILITY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822960" cy="54864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4864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ptos"/>
              </a:rPr>
              <a:t>Prepared by </a:t>
            </a:r>
            <a:r>
              <a:rPr lang="en-US" sz="1300" b="1" dirty="0" err="1" smtClean="0">
                <a:solidFill>
                  <a:srgbClr val="FFFFFF"/>
                </a:solidFill>
                <a:latin typeface="Aptos"/>
              </a:rPr>
              <a:t>Adepelumi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dirty="0">
                <a:solidFill>
                  <a:srgbClr val="C7D4D2"/>
                </a:solidFill>
                <a:latin typeface="Aptos"/>
              </a:rPr>
              <a:t>5,000 records  •  Nigerian naira (₦)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The story in four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dataset reports high overall returns; the next step is to verify what drives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₦45.86bn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PRODUCTION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₦11.89bn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costs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59152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₦33.97bn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9806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Revenue less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965960"/>
            <a:ext cx="25146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196596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19" y="2103120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PROFIT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359152"/>
            <a:ext cx="22402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74.1%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798064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Weighted margin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657600"/>
            <a:ext cx="54864" cy="100584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stands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Tomato leads total crop profit.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70832" y="3657600"/>
            <a:ext cx="54864" cy="100584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35424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Main cost pressure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Labour is the largest cost category.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657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6720" y="3657600"/>
            <a:ext cx="54864" cy="100584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776472"/>
            <a:ext cx="318211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059936"/>
            <a:ext cx="3182112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Compare profit per hectare before expanding.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257800"/>
            <a:ext cx="10058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66767A"/>
                </a:solidFill>
                <a:latin typeface="Aptos"/>
              </a:rPr>
              <a:t>Note: workbook records are labelled synthetic/simulated.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What the dataset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analysis combines farm conditions, production outcomes and financial measures.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FARM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Rows in supplied workbook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Columns /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TOTAL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136.3k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Recorded tonnes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794760"/>
            <a:ext cx="54864" cy="109728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Farm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State, region, crop, farm size and experience.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3794760"/>
            <a:ext cx="54864" cy="109728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Season, irrigation, fertiliser and other inputs.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794760"/>
            <a:ext cx="3429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01000" y="3794760"/>
            <a:ext cx="54864" cy="109728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65592" y="391363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Financials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4197096"/>
            <a:ext cx="3136392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Cost, revenue, profit and margin.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8313B"/>
                </a:solidFill>
                <a:latin typeface="Aptos"/>
              </a:rPr>
              <a:t>Interpretation: useful for exploring patterns, but not proof of real-world national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CROP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7937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Tomato leads total crop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Total profit reflects both crop economics and the scale of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057400"/>
            <a:ext cx="374903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57400"/>
            <a:ext cx="54864" cy="11430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1" y="2176272"/>
            <a:ext cx="345643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Top crop: Tomato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459736"/>
            <a:ext cx="3456432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₦9.07bn total profit
₦4.81m profit per hectare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20440"/>
            <a:ext cx="3749039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520440"/>
            <a:ext cx="54864" cy="96012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3639312"/>
            <a:ext cx="345643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Lowest total profit: Sorghum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922776"/>
            <a:ext cx="3456432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₦726.9m total 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749039" cy="777240"/>
          </a:xfrm>
          <a:prstGeom prst="roundRect">
            <a:avLst/>
          </a:prstGeom>
          <a:solidFill>
            <a:srgbClr val="E7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4937760"/>
            <a:ext cx="33832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8313B"/>
                </a:solidFill>
                <a:latin typeface="Aptos"/>
              </a:rPr>
              <a:t>Recommendation: compare yield, selling price and cost per hectare before changing crop allocation.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831016"/>
            <a:ext cx="6175718" cy="3746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COST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Focus cost control on three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Labour, fertiliser and transport together make up a large share of recorded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965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54864" cy="9144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2084831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Labour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368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₦3.49bn • 29.4% of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108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108960"/>
            <a:ext cx="54864" cy="91440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3227832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Fertiliser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511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₦2.94bn • 24.8% of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251960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4251960"/>
            <a:ext cx="54864" cy="91440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4370832"/>
            <a:ext cx="35935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654296"/>
            <a:ext cx="3593592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₦2.06bn • 17.4% of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8313B"/>
                </a:solidFill>
                <a:latin typeface="Aptos"/>
              </a:rPr>
              <a:t>Recommendation: track cost per hectare and per tonne; negotiate rates and improve planning without reducing yield.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30552"/>
            <a:ext cx="6597748" cy="321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Irrigated records show higher average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The pattern appears in both seasons, but does not prove irrigation alone caused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894388"/>
            <a:ext cx="3566160" cy="1284908"/>
          </a:xfrm>
          <a:prstGeom prst="roundRect">
            <a:avLst/>
          </a:prstGeom>
          <a:solidFill>
            <a:srgbClr val="E7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322222"/>
            <a:ext cx="3200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dirty="0">
                <a:solidFill>
                  <a:srgbClr val="18313B"/>
                </a:solidFill>
                <a:latin typeface="Aptos"/>
              </a:rPr>
              <a:t>Recommendation: pilot irrigation and include water, energy and maintenance costs.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864" y="3179296"/>
            <a:ext cx="6382512" cy="3363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GEOGRAPHIC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Regional totals need a 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Total profit and profit per hectare answer different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118872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Highest 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North Central
₦7.90bn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118872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Highest profit / hectare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North West
₦1.59m/ha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54864" cy="118872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2176272"/>
            <a:ext cx="31363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Top state by total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459736"/>
            <a:ext cx="3136392" cy="7406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Ogun
₦1.48bn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69080"/>
            <a:ext cx="10561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39735A"/>
                </a:solidFill>
                <a:latin typeface="Aptos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06240"/>
            <a:ext cx="8229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23343B"/>
                </a:solidFill>
                <a:latin typeface="Aptos"/>
              </a:rPr>
              <a:t>Compare crop mix, selling price, yield and cost per hectare before transferring practices between 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MARKET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Test logistics before investing in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Storage status alone does not show storage quality, capacity or losses prevented.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17043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AVERAGE PROFIT WITH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₦6.79m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Per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64008" cy="1170432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AVERAGE PROFIT WITHOUT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₦6.80m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Per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200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64008" cy="1170432"/>
          </a:xfrm>
          <a:prstGeom prst="rect">
            <a:avLst/>
          </a:prstGeom>
          <a:solidFill>
            <a:srgbClr val="B9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66767A"/>
                </a:solidFill>
                <a:latin typeface="Aptos"/>
              </a:rPr>
              <a:t>LOSS-MAKING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04872"/>
            <a:ext cx="29260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8313B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43784"/>
            <a:ext cx="29260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67A"/>
                </a:solidFill>
                <a:latin typeface="Aptos"/>
              </a:rPr>
              <a:t>Investigate costs and prices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49039"/>
            <a:ext cx="49377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3749039"/>
            <a:ext cx="54864" cy="1051560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867911"/>
            <a:ext cx="464515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the data suggests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151376"/>
            <a:ext cx="4645152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Average profit is almost the same across storage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749039"/>
            <a:ext cx="49377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749039"/>
            <a:ext cx="54864" cy="10515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1" y="3867911"/>
            <a:ext cx="464515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8313B"/>
                </a:solidFill>
                <a:latin typeface="Aptos"/>
              </a:rPr>
              <a:t>What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1" y="4151376"/>
            <a:ext cx="4645152" cy="6035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343B"/>
                </a:solidFill>
                <a:latin typeface="Aptos"/>
              </a:rPr>
              <a:t>Trial shared transport or collection points; measure cost per tonne and spoilage.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39735A"/>
                </a:solidFill>
                <a:latin typeface="Aptos"/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8313B"/>
                </a:solidFill>
                <a:latin typeface="Aptos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789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6767A"/>
                </a:solidFill>
                <a:latin typeface="Aptos"/>
              </a:rPr>
              <a:t>Start with actions that are measurable and relatively easy to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18520" cy="22860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>
                <a:solidFill>
                  <a:srgbClr val="66767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790" y="1937120"/>
            <a:ext cx="4445391" cy="261659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19" y="1828800"/>
            <a:ext cx="56271" cy="2839212"/>
          </a:xfrm>
          <a:prstGeom prst="rect">
            <a:avLst/>
          </a:prstGeom>
          <a:solidFill>
            <a:srgbClr val="39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3212" y="2144268"/>
            <a:ext cx="3854547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Prioritise</a:t>
            </a:r>
            <a:r>
              <a:rPr lang="en-US" dirty="0" smtClean="0"/>
              <a:t> Profitable Crop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Control the Biggest 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Invest in Irrigation Strategically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Reduces Transport  Expenses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Investigate Loss-Making Farms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264" y="1792098"/>
            <a:ext cx="8690317" cy="15142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9600" b="1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THANK YOU</a:t>
            </a:r>
            <a:endParaRPr sz="96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0023" y="3481753"/>
            <a:ext cx="914400" cy="54864"/>
          </a:xfrm>
          <a:prstGeom prst="rect">
            <a:avLst/>
          </a:prstGeom>
          <a:solidFill>
            <a:srgbClr val="D5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64008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Aptos"/>
              </a:rPr>
              <a:t>Prepared by </a:t>
            </a:r>
            <a:r>
              <a:rPr lang="en-US" sz="1100" b="1" dirty="0" err="1" smtClean="0">
                <a:solidFill>
                  <a:srgbClr val="FFFFFF"/>
                </a:solidFill>
                <a:latin typeface="Aptos"/>
              </a:rPr>
              <a:t>Adepelumi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526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Ayomidipupo</dc:creator>
  <cp:keywords/>
  <dc:description>generated using python-pptx</dc:description>
  <cp:lastModifiedBy>adewaleca@gmail.com</cp:lastModifiedBy>
  <cp:revision>8</cp:revision>
  <dcterms:created xsi:type="dcterms:W3CDTF">2013-01-27T09:14:16Z</dcterms:created>
  <dcterms:modified xsi:type="dcterms:W3CDTF">2026-10-11T15:26:34Z</dcterms:modified>
  <cp:category/>
</cp:coreProperties>
</file>